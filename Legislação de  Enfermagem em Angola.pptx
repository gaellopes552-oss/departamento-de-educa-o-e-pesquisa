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8"/>
  </p:notesMasterIdLst>
  <p:handoutMasterIdLst>
    <p:handoutMasterId r:id="rId19"/>
  </p:handoutMasterIdLst>
  <p:sldIdLst>
    <p:sldId id="262" r:id="rId2"/>
    <p:sldId id="257" r:id="rId3"/>
    <p:sldId id="271" r:id="rId4"/>
    <p:sldId id="258" r:id="rId5"/>
    <p:sldId id="260" r:id="rId6"/>
    <p:sldId id="259" r:id="rId7"/>
    <p:sldId id="264" r:id="rId8"/>
    <p:sldId id="261" r:id="rId9"/>
    <p:sldId id="265" r:id="rId10"/>
    <p:sldId id="266" r:id="rId11"/>
    <p:sldId id="267" r:id="rId12"/>
    <p:sldId id="268" r:id="rId13"/>
    <p:sldId id="272" r:id="rId14"/>
    <p:sldId id="269" r:id="rId15"/>
    <p:sldId id="273" r:id="rId16"/>
    <p:sldId id="274" r:id="rId17"/>
  </p:sldIdLst>
  <p:sldSz cx="12192000" cy="6858000"/>
  <p:notesSz cx="6858000" cy="9144000"/>
  <p:defaultTextStyle>
    <a:defPPr rtl="0"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C500A3-6C7A-4CDC-8646-052B2E80D95C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28FB5E-0661-4446-BB82-A7ED830744A7}">
      <dgm:prSet/>
      <dgm:spPr/>
      <dgm:t>
        <a:bodyPr/>
        <a:lstStyle/>
        <a:p>
          <a:r>
            <a:rPr lang="pt-PT"/>
            <a:t>Cap. I – Princípios Fundamentais </a:t>
          </a:r>
          <a:endParaRPr lang="en-US"/>
        </a:p>
      </dgm:t>
    </dgm:pt>
    <dgm:pt modelId="{E1E09D32-7FC8-434D-A321-B23D5BD2958F}" type="parTrans" cxnId="{62F2FF0B-0680-422D-AC82-2DA3C115C31A}">
      <dgm:prSet/>
      <dgm:spPr/>
      <dgm:t>
        <a:bodyPr/>
        <a:lstStyle/>
        <a:p>
          <a:endParaRPr lang="en-US"/>
        </a:p>
      </dgm:t>
    </dgm:pt>
    <dgm:pt modelId="{91B13DA0-4EF9-490F-880E-FF25687A67D8}" type="sibTrans" cxnId="{62F2FF0B-0680-422D-AC82-2DA3C115C31A}">
      <dgm:prSet/>
      <dgm:spPr/>
      <dgm:t>
        <a:bodyPr/>
        <a:lstStyle/>
        <a:p>
          <a:endParaRPr lang="en-US"/>
        </a:p>
      </dgm:t>
    </dgm:pt>
    <dgm:pt modelId="{B7AF6965-A178-4EA1-9C79-F1E0C792B9DB}">
      <dgm:prSet/>
      <dgm:spPr/>
      <dgm:t>
        <a:bodyPr/>
        <a:lstStyle/>
        <a:p>
          <a:r>
            <a:rPr lang="pt-PT"/>
            <a:t>Art. 3.⸰ - Princípios Éticos</a:t>
          </a:r>
          <a:endParaRPr lang="en-US"/>
        </a:p>
      </dgm:t>
    </dgm:pt>
    <dgm:pt modelId="{238BC5B3-3BE3-4B13-A5CD-7F616E0599DF}" type="parTrans" cxnId="{89CDA712-7944-4932-A559-2C93FE3916CA}">
      <dgm:prSet/>
      <dgm:spPr/>
      <dgm:t>
        <a:bodyPr/>
        <a:lstStyle/>
        <a:p>
          <a:endParaRPr lang="en-US"/>
        </a:p>
      </dgm:t>
    </dgm:pt>
    <dgm:pt modelId="{49ED710D-0FCA-423F-BC6D-E2715FEB6510}" type="sibTrans" cxnId="{89CDA712-7944-4932-A559-2C93FE3916CA}">
      <dgm:prSet/>
      <dgm:spPr/>
      <dgm:t>
        <a:bodyPr/>
        <a:lstStyle/>
        <a:p>
          <a:endParaRPr lang="en-US"/>
        </a:p>
      </dgm:t>
    </dgm:pt>
    <dgm:pt modelId="{96D25FCC-4C3B-4F85-93B4-9940EAF9628C}">
      <dgm:prSet/>
      <dgm:spPr/>
      <dgm:t>
        <a:bodyPr/>
        <a:lstStyle/>
        <a:p>
          <a:r>
            <a:rPr lang="pt-PT"/>
            <a:t>Dignidade humano</a:t>
          </a:r>
          <a:endParaRPr lang="en-US"/>
        </a:p>
      </dgm:t>
    </dgm:pt>
    <dgm:pt modelId="{C80BF238-916E-430D-B63C-F92B6A9FC97F}" type="parTrans" cxnId="{95DF0C46-DD78-43B4-82A5-60C8196ABD0A}">
      <dgm:prSet/>
      <dgm:spPr/>
      <dgm:t>
        <a:bodyPr/>
        <a:lstStyle/>
        <a:p>
          <a:endParaRPr lang="en-US"/>
        </a:p>
      </dgm:t>
    </dgm:pt>
    <dgm:pt modelId="{0ED57BEE-B6CA-42FA-893E-2111F1ACCE7E}" type="sibTrans" cxnId="{95DF0C46-DD78-43B4-82A5-60C8196ABD0A}">
      <dgm:prSet/>
      <dgm:spPr/>
      <dgm:t>
        <a:bodyPr/>
        <a:lstStyle/>
        <a:p>
          <a:endParaRPr lang="en-US"/>
        </a:p>
      </dgm:t>
    </dgm:pt>
    <dgm:pt modelId="{EC6D3B3C-2F02-4A9D-AA4B-90BA54372617}">
      <dgm:prSet/>
      <dgm:spPr/>
      <dgm:t>
        <a:bodyPr/>
        <a:lstStyle/>
        <a:p>
          <a:r>
            <a:rPr lang="pt-PT"/>
            <a:t>Direito à vida</a:t>
          </a:r>
          <a:endParaRPr lang="en-US"/>
        </a:p>
      </dgm:t>
    </dgm:pt>
    <dgm:pt modelId="{57D95512-5858-425B-ACA9-88094CAEA265}" type="parTrans" cxnId="{F6D1837C-A2CA-4DA1-851B-D01DB1118EEB}">
      <dgm:prSet/>
      <dgm:spPr/>
      <dgm:t>
        <a:bodyPr/>
        <a:lstStyle/>
        <a:p>
          <a:endParaRPr lang="en-US"/>
        </a:p>
      </dgm:t>
    </dgm:pt>
    <dgm:pt modelId="{A7B67BA1-4016-47EB-8641-4D831392044A}" type="sibTrans" cxnId="{F6D1837C-A2CA-4DA1-851B-D01DB1118EEB}">
      <dgm:prSet/>
      <dgm:spPr/>
      <dgm:t>
        <a:bodyPr/>
        <a:lstStyle/>
        <a:p>
          <a:endParaRPr lang="en-US"/>
        </a:p>
      </dgm:t>
    </dgm:pt>
    <dgm:pt modelId="{F391A25E-F859-46D0-94BE-9A89604C3A9E}">
      <dgm:prSet/>
      <dgm:spPr/>
      <dgm:t>
        <a:bodyPr/>
        <a:lstStyle/>
        <a:p>
          <a:r>
            <a:rPr lang="pt-PT"/>
            <a:t>Confidencialidade</a:t>
          </a:r>
          <a:endParaRPr lang="en-US"/>
        </a:p>
      </dgm:t>
    </dgm:pt>
    <dgm:pt modelId="{E742120B-9D95-4A5F-9CF5-4ADAE6CAA49B}" type="parTrans" cxnId="{50EE1342-52CC-4155-8835-F47B9010323F}">
      <dgm:prSet/>
      <dgm:spPr/>
      <dgm:t>
        <a:bodyPr/>
        <a:lstStyle/>
        <a:p>
          <a:endParaRPr lang="en-US"/>
        </a:p>
      </dgm:t>
    </dgm:pt>
    <dgm:pt modelId="{474ACD3A-A89A-4683-862A-0BF690E69D85}" type="sibTrans" cxnId="{50EE1342-52CC-4155-8835-F47B9010323F}">
      <dgm:prSet/>
      <dgm:spPr/>
      <dgm:t>
        <a:bodyPr/>
        <a:lstStyle/>
        <a:p>
          <a:endParaRPr lang="en-US"/>
        </a:p>
      </dgm:t>
    </dgm:pt>
    <dgm:pt modelId="{845A04D8-161D-4C2A-8A0F-6101C6798E76}">
      <dgm:prSet/>
      <dgm:spPr/>
      <dgm:t>
        <a:bodyPr/>
        <a:lstStyle/>
        <a:p>
          <a:r>
            <a:rPr lang="pt-PT"/>
            <a:t>Justiça</a:t>
          </a:r>
          <a:endParaRPr lang="en-US"/>
        </a:p>
      </dgm:t>
    </dgm:pt>
    <dgm:pt modelId="{53A9FD6C-CC7F-49B2-A0C3-9F8F35C55573}" type="parTrans" cxnId="{11210B0F-639F-437E-A7E8-197A9F74B9A0}">
      <dgm:prSet/>
      <dgm:spPr/>
      <dgm:t>
        <a:bodyPr/>
        <a:lstStyle/>
        <a:p>
          <a:endParaRPr lang="en-US"/>
        </a:p>
      </dgm:t>
    </dgm:pt>
    <dgm:pt modelId="{411405B3-E097-4A46-9855-4765B82AEFE6}" type="sibTrans" cxnId="{11210B0F-639F-437E-A7E8-197A9F74B9A0}">
      <dgm:prSet/>
      <dgm:spPr/>
      <dgm:t>
        <a:bodyPr/>
        <a:lstStyle/>
        <a:p>
          <a:endParaRPr lang="en-US"/>
        </a:p>
      </dgm:t>
    </dgm:pt>
    <dgm:pt modelId="{B945F272-C9D1-497A-BA8B-33C7BD3FF62F}">
      <dgm:prSet/>
      <dgm:spPr/>
      <dgm:t>
        <a:bodyPr/>
        <a:lstStyle/>
        <a:p>
          <a:r>
            <a:rPr lang="pt-PT"/>
            <a:t>responsabilidade </a:t>
          </a:r>
          <a:endParaRPr lang="en-US"/>
        </a:p>
      </dgm:t>
    </dgm:pt>
    <dgm:pt modelId="{804FD192-7ACD-421C-9D50-C7A7465DCADE}" type="parTrans" cxnId="{1F68D8C2-DC7E-4840-8966-F1AB2A2AF2A3}">
      <dgm:prSet/>
      <dgm:spPr/>
      <dgm:t>
        <a:bodyPr/>
        <a:lstStyle/>
        <a:p>
          <a:endParaRPr lang="en-US"/>
        </a:p>
      </dgm:t>
    </dgm:pt>
    <dgm:pt modelId="{883B4025-1985-40AD-B06D-E5636C1AC26E}" type="sibTrans" cxnId="{1F68D8C2-DC7E-4840-8966-F1AB2A2AF2A3}">
      <dgm:prSet/>
      <dgm:spPr/>
      <dgm:t>
        <a:bodyPr/>
        <a:lstStyle/>
        <a:p>
          <a:endParaRPr lang="en-US"/>
        </a:p>
      </dgm:t>
    </dgm:pt>
    <dgm:pt modelId="{F9FD3D92-9549-4B6B-B2B0-5B42104FF701}" type="pres">
      <dgm:prSet presAssocID="{A7C500A3-6C7A-4CDC-8646-052B2E80D95C}" presName="diagram" presStyleCnt="0">
        <dgm:presLayoutVars>
          <dgm:dir/>
          <dgm:resizeHandles val="exact"/>
        </dgm:presLayoutVars>
      </dgm:prSet>
      <dgm:spPr/>
    </dgm:pt>
    <dgm:pt modelId="{3D0DA4C0-C72A-46B3-A992-9787E6A3BBDC}" type="pres">
      <dgm:prSet presAssocID="{9528FB5E-0661-4446-BB82-A7ED830744A7}" presName="node" presStyleLbl="node1" presStyleIdx="0" presStyleCnt="7">
        <dgm:presLayoutVars>
          <dgm:bulletEnabled val="1"/>
        </dgm:presLayoutVars>
      </dgm:prSet>
      <dgm:spPr/>
    </dgm:pt>
    <dgm:pt modelId="{92245D77-9903-4253-9356-FCCF1D38D5F8}" type="pres">
      <dgm:prSet presAssocID="{91B13DA0-4EF9-490F-880E-FF25687A67D8}" presName="sibTrans" presStyleCnt="0"/>
      <dgm:spPr/>
    </dgm:pt>
    <dgm:pt modelId="{FD857402-D925-4631-82CC-8E5FEBEF4EC3}" type="pres">
      <dgm:prSet presAssocID="{B7AF6965-A178-4EA1-9C79-F1E0C792B9DB}" presName="node" presStyleLbl="node1" presStyleIdx="1" presStyleCnt="7">
        <dgm:presLayoutVars>
          <dgm:bulletEnabled val="1"/>
        </dgm:presLayoutVars>
      </dgm:prSet>
      <dgm:spPr/>
    </dgm:pt>
    <dgm:pt modelId="{0C94C1D4-C236-438E-82D6-161639496EC5}" type="pres">
      <dgm:prSet presAssocID="{49ED710D-0FCA-423F-BC6D-E2715FEB6510}" presName="sibTrans" presStyleCnt="0"/>
      <dgm:spPr/>
    </dgm:pt>
    <dgm:pt modelId="{1EFBD90F-F4E0-4614-A2B8-AAE3087DD938}" type="pres">
      <dgm:prSet presAssocID="{96D25FCC-4C3B-4F85-93B4-9940EAF9628C}" presName="node" presStyleLbl="node1" presStyleIdx="2" presStyleCnt="7">
        <dgm:presLayoutVars>
          <dgm:bulletEnabled val="1"/>
        </dgm:presLayoutVars>
      </dgm:prSet>
      <dgm:spPr/>
    </dgm:pt>
    <dgm:pt modelId="{F1E55F92-A827-4CCB-84FE-20E66E1AFF42}" type="pres">
      <dgm:prSet presAssocID="{0ED57BEE-B6CA-42FA-893E-2111F1ACCE7E}" presName="sibTrans" presStyleCnt="0"/>
      <dgm:spPr/>
    </dgm:pt>
    <dgm:pt modelId="{6290B755-A138-4D15-B2BE-DBDA13D0B621}" type="pres">
      <dgm:prSet presAssocID="{EC6D3B3C-2F02-4A9D-AA4B-90BA54372617}" presName="node" presStyleLbl="node1" presStyleIdx="3" presStyleCnt="7">
        <dgm:presLayoutVars>
          <dgm:bulletEnabled val="1"/>
        </dgm:presLayoutVars>
      </dgm:prSet>
      <dgm:spPr/>
    </dgm:pt>
    <dgm:pt modelId="{D23DF10F-0D09-4104-B59B-423A06EB6559}" type="pres">
      <dgm:prSet presAssocID="{A7B67BA1-4016-47EB-8641-4D831392044A}" presName="sibTrans" presStyleCnt="0"/>
      <dgm:spPr/>
    </dgm:pt>
    <dgm:pt modelId="{96E72B10-FB80-447D-A77E-69D0AA58C9B7}" type="pres">
      <dgm:prSet presAssocID="{F391A25E-F859-46D0-94BE-9A89604C3A9E}" presName="node" presStyleLbl="node1" presStyleIdx="4" presStyleCnt="7">
        <dgm:presLayoutVars>
          <dgm:bulletEnabled val="1"/>
        </dgm:presLayoutVars>
      </dgm:prSet>
      <dgm:spPr/>
    </dgm:pt>
    <dgm:pt modelId="{C49AB127-5658-4E3E-A6E2-1F9805BD3B02}" type="pres">
      <dgm:prSet presAssocID="{474ACD3A-A89A-4683-862A-0BF690E69D85}" presName="sibTrans" presStyleCnt="0"/>
      <dgm:spPr/>
    </dgm:pt>
    <dgm:pt modelId="{75AF4B80-2FA1-48F3-851B-87E8C0AE0B77}" type="pres">
      <dgm:prSet presAssocID="{845A04D8-161D-4C2A-8A0F-6101C6798E76}" presName="node" presStyleLbl="node1" presStyleIdx="5" presStyleCnt="7">
        <dgm:presLayoutVars>
          <dgm:bulletEnabled val="1"/>
        </dgm:presLayoutVars>
      </dgm:prSet>
      <dgm:spPr/>
    </dgm:pt>
    <dgm:pt modelId="{A6C1B602-4422-4D7F-968C-97789BD7F120}" type="pres">
      <dgm:prSet presAssocID="{411405B3-E097-4A46-9855-4765B82AEFE6}" presName="sibTrans" presStyleCnt="0"/>
      <dgm:spPr/>
    </dgm:pt>
    <dgm:pt modelId="{56C3369F-D28C-46C3-B5D1-B89ADE8DCD9A}" type="pres">
      <dgm:prSet presAssocID="{B945F272-C9D1-497A-BA8B-33C7BD3FF62F}" presName="node" presStyleLbl="node1" presStyleIdx="6" presStyleCnt="7">
        <dgm:presLayoutVars>
          <dgm:bulletEnabled val="1"/>
        </dgm:presLayoutVars>
      </dgm:prSet>
      <dgm:spPr/>
    </dgm:pt>
  </dgm:ptLst>
  <dgm:cxnLst>
    <dgm:cxn modelId="{4C3EFA0B-76DE-43D2-845D-62D39A8F9F7C}" type="presOf" srcId="{F391A25E-F859-46D0-94BE-9A89604C3A9E}" destId="{96E72B10-FB80-447D-A77E-69D0AA58C9B7}" srcOrd="0" destOrd="0" presId="urn:microsoft.com/office/officeart/2005/8/layout/default"/>
    <dgm:cxn modelId="{62F2FF0B-0680-422D-AC82-2DA3C115C31A}" srcId="{A7C500A3-6C7A-4CDC-8646-052B2E80D95C}" destId="{9528FB5E-0661-4446-BB82-A7ED830744A7}" srcOrd="0" destOrd="0" parTransId="{E1E09D32-7FC8-434D-A321-B23D5BD2958F}" sibTransId="{91B13DA0-4EF9-490F-880E-FF25687A67D8}"/>
    <dgm:cxn modelId="{11210B0F-639F-437E-A7E8-197A9F74B9A0}" srcId="{A7C500A3-6C7A-4CDC-8646-052B2E80D95C}" destId="{845A04D8-161D-4C2A-8A0F-6101C6798E76}" srcOrd="5" destOrd="0" parTransId="{53A9FD6C-CC7F-49B2-A0C3-9F8F35C55573}" sibTransId="{411405B3-E097-4A46-9855-4765B82AEFE6}"/>
    <dgm:cxn modelId="{89CDA712-7944-4932-A559-2C93FE3916CA}" srcId="{A7C500A3-6C7A-4CDC-8646-052B2E80D95C}" destId="{B7AF6965-A178-4EA1-9C79-F1E0C792B9DB}" srcOrd="1" destOrd="0" parTransId="{238BC5B3-3BE3-4B13-A5CD-7F616E0599DF}" sibTransId="{49ED710D-0FCA-423F-BC6D-E2715FEB6510}"/>
    <dgm:cxn modelId="{955BD114-7D01-48C3-B71F-00FD432EF402}" type="presOf" srcId="{845A04D8-161D-4C2A-8A0F-6101C6798E76}" destId="{75AF4B80-2FA1-48F3-851B-87E8C0AE0B77}" srcOrd="0" destOrd="0" presId="urn:microsoft.com/office/officeart/2005/8/layout/default"/>
    <dgm:cxn modelId="{50EE1342-52CC-4155-8835-F47B9010323F}" srcId="{A7C500A3-6C7A-4CDC-8646-052B2E80D95C}" destId="{F391A25E-F859-46D0-94BE-9A89604C3A9E}" srcOrd="4" destOrd="0" parTransId="{E742120B-9D95-4A5F-9CF5-4ADAE6CAA49B}" sibTransId="{474ACD3A-A89A-4683-862A-0BF690E69D85}"/>
    <dgm:cxn modelId="{DCE46143-993B-49C0-AC12-5D69F9D39ADF}" type="presOf" srcId="{EC6D3B3C-2F02-4A9D-AA4B-90BA54372617}" destId="{6290B755-A138-4D15-B2BE-DBDA13D0B621}" srcOrd="0" destOrd="0" presId="urn:microsoft.com/office/officeart/2005/8/layout/default"/>
    <dgm:cxn modelId="{95DF0C46-DD78-43B4-82A5-60C8196ABD0A}" srcId="{A7C500A3-6C7A-4CDC-8646-052B2E80D95C}" destId="{96D25FCC-4C3B-4F85-93B4-9940EAF9628C}" srcOrd="2" destOrd="0" parTransId="{C80BF238-916E-430D-B63C-F92B6A9FC97F}" sibTransId="{0ED57BEE-B6CA-42FA-893E-2111F1ACCE7E}"/>
    <dgm:cxn modelId="{F6D1837C-A2CA-4DA1-851B-D01DB1118EEB}" srcId="{A7C500A3-6C7A-4CDC-8646-052B2E80D95C}" destId="{EC6D3B3C-2F02-4A9D-AA4B-90BA54372617}" srcOrd="3" destOrd="0" parTransId="{57D95512-5858-425B-ACA9-88094CAEA265}" sibTransId="{A7B67BA1-4016-47EB-8641-4D831392044A}"/>
    <dgm:cxn modelId="{C08AA8A2-1BA2-49B9-A284-FBB80A2EA122}" type="presOf" srcId="{A7C500A3-6C7A-4CDC-8646-052B2E80D95C}" destId="{F9FD3D92-9549-4B6B-B2B0-5B42104FF701}" srcOrd="0" destOrd="0" presId="urn:microsoft.com/office/officeart/2005/8/layout/default"/>
    <dgm:cxn modelId="{371ACDAA-F055-46B8-93AD-00BD8D1E8244}" type="presOf" srcId="{B7AF6965-A178-4EA1-9C79-F1E0C792B9DB}" destId="{FD857402-D925-4631-82CC-8E5FEBEF4EC3}" srcOrd="0" destOrd="0" presId="urn:microsoft.com/office/officeart/2005/8/layout/default"/>
    <dgm:cxn modelId="{E3B5FDBE-5214-4E57-BFEF-014BA2338243}" type="presOf" srcId="{B945F272-C9D1-497A-BA8B-33C7BD3FF62F}" destId="{56C3369F-D28C-46C3-B5D1-B89ADE8DCD9A}" srcOrd="0" destOrd="0" presId="urn:microsoft.com/office/officeart/2005/8/layout/default"/>
    <dgm:cxn modelId="{1F68D8C2-DC7E-4840-8966-F1AB2A2AF2A3}" srcId="{A7C500A3-6C7A-4CDC-8646-052B2E80D95C}" destId="{B945F272-C9D1-497A-BA8B-33C7BD3FF62F}" srcOrd="6" destOrd="0" parTransId="{804FD192-7ACD-421C-9D50-C7A7465DCADE}" sibTransId="{883B4025-1985-40AD-B06D-E5636C1AC26E}"/>
    <dgm:cxn modelId="{2F7F4EF0-837C-4BCE-973B-B48A236A6185}" type="presOf" srcId="{96D25FCC-4C3B-4F85-93B4-9940EAF9628C}" destId="{1EFBD90F-F4E0-4614-A2B8-AAE3087DD938}" srcOrd="0" destOrd="0" presId="urn:microsoft.com/office/officeart/2005/8/layout/default"/>
    <dgm:cxn modelId="{B2D281F4-F80C-4E0F-A87C-92BD9760BE9F}" type="presOf" srcId="{9528FB5E-0661-4446-BB82-A7ED830744A7}" destId="{3D0DA4C0-C72A-46B3-A992-9787E6A3BBDC}" srcOrd="0" destOrd="0" presId="urn:microsoft.com/office/officeart/2005/8/layout/default"/>
    <dgm:cxn modelId="{8559C012-5C0B-4E1F-9818-B2A02B40A480}" type="presParOf" srcId="{F9FD3D92-9549-4B6B-B2B0-5B42104FF701}" destId="{3D0DA4C0-C72A-46B3-A992-9787E6A3BBDC}" srcOrd="0" destOrd="0" presId="urn:microsoft.com/office/officeart/2005/8/layout/default"/>
    <dgm:cxn modelId="{B985F34C-4A2C-4694-9698-608A6650F4D4}" type="presParOf" srcId="{F9FD3D92-9549-4B6B-B2B0-5B42104FF701}" destId="{92245D77-9903-4253-9356-FCCF1D38D5F8}" srcOrd="1" destOrd="0" presId="urn:microsoft.com/office/officeart/2005/8/layout/default"/>
    <dgm:cxn modelId="{95C49175-56CF-488C-8B04-2DD728A8D559}" type="presParOf" srcId="{F9FD3D92-9549-4B6B-B2B0-5B42104FF701}" destId="{FD857402-D925-4631-82CC-8E5FEBEF4EC3}" srcOrd="2" destOrd="0" presId="urn:microsoft.com/office/officeart/2005/8/layout/default"/>
    <dgm:cxn modelId="{680EFC33-DF6B-41E2-A082-39D86305B40A}" type="presParOf" srcId="{F9FD3D92-9549-4B6B-B2B0-5B42104FF701}" destId="{0C94C1D4-C236-438E-82D6-161639496EC5}" srcOrd="3" destOrd="0" presId="urn:microsoft.com/office/officeart/2005/8/layout/default"/>
    <dgm:cxn modelId="{9E682A0C-8308-48FC-AE2B-93306195A0D6}" type="presParOf" srcId="{F9FD3D92-9549-4B6B-B2B0-5B42104FF701}" destId="{1EFBD90F-F4E0-4614-A2B8-AAE3087DD938}" srcOrd="4" destOrd="0" presId="urn:microsoft.com/office/officeart/2005/8/layout/default"/>
    <dgm:cxn modelId="{34E9E3FC-EA82-40C6-9767-270BF46EB4D4}" type="presParOf" srcId="{F9FD3D92-9549-4B6B-B2B0-5B42104FF701}" destId="{F1E55F92-A827-4CCB-84FE-20E66E1AFF42}" srcOrd="5" destOrd="0" presId="urn:microsoft.com/office/officeart/2005/8/layout/default"/>
    <dgm:cxn modelId="{13C21850-A721-4C20-BBDC-7B01259A128C}" type="presParOf" srcId="{F9FD3D92-9549-4B6B-B2B0-5B42104FF701}" destId="{6290B755-A138-4D15-B2BE-DBDA13D0B621}" srcOrd="6" destOrd="0" presId="urn:microsoft.com/office/officeart/2005/8/layout/default"/>
    <dgm:cxn modelId="{388993DA-7736-43C3-B4C2-9FBDCDCF8819}" type="presParOf" srcId="{F9FD3D92-9549-4B6B-B2B0-5B42104FF701}" destId="{D23DF10F-0D09-4104-B59B-423A06EB6559}" srcOrd="7" destOrd="0" presId="urn:microsoft.com/office/officeart/2005/8/layout/default"/>
    <dgm:cxn modelId="{B0D091F4-CD54-4E1F-B55C-C6A0B68EA216}" type="presParOf" srcId="{F9FD3D92-9549-4B6B-B2B0-5B42104FF701}" destId="{96E72B10-FB80-447D-A77E-69D0AA58C9B7}" srcOrd="8" destOrd="0" presId="urn:microsoft.com/office/officeart/2005/8/layout/default"/>
    <dgm:cxn modelId="{9B6FA52A-F2C2-4A60-9DDE-4B7F8FE01CA3}" type="presParOf" srcId="{F9FD3D92-9549-4B6B-B2B0-5B42104FF701}" destId="{C49AB127-5658-4E3E-A6E2-1F9805BD3B02}" srcOrd="9" destOrd="0" presId="urn:microsoft.com/office/officeart/2005/8/layout/default"/>
    <dgm:cxn modelId="{C39BD22D-F07B-436A-8047-2F8E4542FE1D}" type="presParOf" srcId="{F9FD3D92-9549-4B6B-B2B0-5B42104FF701}" destId="{75AF4B80-2FA1-48F3-851B-87E8C0AE0B77}" srcOrd="10" destOrd="0" presId="urn:microsoft.com/office/officeart/2005/8/layout/default"/>
    <dgm:cxn modelId="{1F6E74D5-D4E2-4835-A8BA-9586F04A46A1}" type="presParOf" srcId="{F9FD3D92-9549-4B6B-B2B0-5B42104FF701}" destId="{A6C1B602-4422-4D7F-968C-97789BD7F120}" srcOrd="11" destOrd="0" presId="urn:microsoft.com/office/officeart/2005/8/layout/default"/>
    <dgm:cxn modelId="{A24506C5-38EA-45D7-8FAE-BD0959ED05CB}" type="presParOf" srcId="{F9FD3D92-9549-4B6B-B2B0-5B42104FF701}" destId="{56C3369F-D28C-46C3-B5D1-B89ADE8DCD9A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0DA4C0-C72A-46B3-A992-9787E6A3BBDC}">
      <dsp:nvSpPr>
        <dsp:cNvPr id="0" name=""/>
        <dsp:cNvSpPr/>
      </dsp:nvSpPr>
      <dsp:spPr>
        <a:xfrm>
          <a:off x="2946" y="360880"/>
          <a:ext cx="2337792" cy="1402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Cap. I – Princípios Fundamentais </a:t>
          </a:r>
          <a:endParaRPr lang="en-US" sz="2200" kern="1200"/>
        </a:p>
      </dsp:txBody>
      <dsp:txXfrm>
        <a:off x="2946" y="360880"/>
        <a:ext cx="2337792" cy="1402675"/>
      </dsp:txXfrm>
    </dsp:sp>
    <dsp:sp modelId="{FD857402-D925-4631-82CC-8E5FEBEF4EC3}">
      <dsp:nvSpPr>
        <dsp:cNvPr id="0" name=""/>
        <dsp:cNvSpPr/>
      </dsp:nvSpPr>
      <dsp:spPr>
        <a:xfrm>
          <a:off x="2574518" y="360880"/>
          <a:ext cx="2337792" cy="1402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Art. 3.⸰ - Princípios Éticos</a:t>
          </a:r>
          <a:endParaRPr lang="en-US" sz="2200" kern="1200"/>
        </a:p>
      </dsp:txBody>
      <dsp:txXfrm>
        <a:off x="2574518" y="360880"/>
        <a:ext cx="2337792" cy="1402675"/>
      </dsp:txXfrm>
    </dsp:sp>
    <dsp:sp modelId="{1EFBD90F-F4E0-4614-A2B8-AAE3087DD938}">
      <dsp:nvSpPr>
        <dsp:cNvPr id="0" name=""/>
        <dsp:cNvSpPr/>
      </dsp:nvSpPr>
      <dsp:spPr>
        <a:xfrm>
          <a:off x="5146089" y="360880"/>
          <a:ext cx="2337792" cy="1402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Dignidade humano</a:t>
          </a:r>
          <a:endParaRPr lang="en-US" sz="2200" kern="1200"/>
        </a:p>
      </dsp:txBody>
      <dsp:txXfrm>
        <a:off x="5146089" y="360880"/>
        <a:ext cx="2337792" cy="1402675"/>
      </dsp:txXfrm>
    </dsp:sp>
    <dsp:sp modelId="{6290B755-A138-4D15-B2BE-DBDA13D0B621}">
      <dsp:nvSpPr>
        <dsp:cNvPr id="0" name=""/>
        <dsp:cNvSpPr/>
      </dsp:nvSpPr>
      <dsp:spPr>
        <a:xfrm>
          <a:off x="7717661" y="360880"/>
          <a:ext cx="2337792" cy="1402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Direito à vida</a:t>
          </a:r>
          <a:endParaRPr lang="en-US" sz="2200" kern="1200"/>
        </a:p>
      </dsp:txBody>
      <dsp:txXfrm>
        <a:off x="7717661" y="360880"/>
        <a:ext cx="2337792" cy="1402675"/>
      </dsp:txXfrm>
    </dsp:sp>
    <dsp:sp modelId="{96E72B10-FB80-447D-A77E-69D0AA58C9B7}">
      <dsp:nvSpPr>
        <dsp:cNvPr id="0" name=""/>
        <dsp:cNvSpPr/>
      </dsp:nvSpPr>
      <dsp:spPr>
        <a:xfrm>
          <a:off x="1288732" y="1997335"/>
          <a:ext cx="2337792" cy="1402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Confidencialidade</a:t>
          </a:r>
          <a:endParaRPr lang="en-US" sz="2200" kern="1200"/>
        </a:p>
      </dsp:txBody>
      <dsp:txXfrm>
        <a:off x="1288732" y="1997335"/>
        <a:ext cx="2337792" cy="1402675"/>
      </dsp:txXfrm>
    </dsp:sp>
    <dsp:sp modelId="{75AF4B80-2FA1-48F3-851B-87E8C0AE0B77}">
      <dsp:nvSpPr>
        <dsp:cNvPr id="0" name=""/>
        <dsp:cNvSpPr/>
      </dsp:nvSpPr>
      <dsp:spPr>
        <a:xfrm>
          <a:off x="3860303" y="1997335"/>
          <a:ext cx="2337792" cy="1402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Justiça</a:t>
          </a:r>
          <a:endParaRPr lang="en-US" sz="2200" kern="1200"/>
        </a:p>
      </dsp:txBody>
      <dsp:txXfrm>
        <a:off x="3860303" y="1997335"/>
        <a:ext cx="2337792" cy="1402675"/>
      </dsp:txXfrm>
    </dsp:sp>
    <dsp:sp modelId="{56C3369F-D28C-46C3-B5D1-B89ADE8DCD9A}">
      <dsp:nvSpPr>
        <dsp:cNvPr id="0" name=""/>
        <dsp:cNvSpPr/>
      </dsp:nvSpPr>
      <dsp:spPr>
        <a:xfrm>
          <a:off x="6431875" y="1997335"/>
          <a:ext cx="2337792" cy="14026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200" kern="1200"/>
            <a:t>responsabilidade </a:t>
          </a:r>
          <a:endParaRPr lang="en-US" sz="2200" kern="1200"/>
        </a:p>
      </dsp:txBody>
      <dsp:txXfrm>
        <a:off x="6431875" y="1997335"/>
        <a:ext cx="2337792" cy="14026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928736-AA0B-442D-A1AF-8261F7034BF9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D4F8076-E201-4AD9-9292-9CDC6E4C499D}" type="datetime1">
              <a:rPr lang="pt-PT" smtClean="0"/>
              <a:t>10/05/2026</a:t>
            </a:fld>
            <a:endParaRPr lang="en-US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pt"/>
              <a:t>Clique para editar os Estilos de texto do modelo global</a:t>
            </a:r>
            <a:endParaRPr lang="en-US"/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PT"/>
              <a:t>Clique para editar o estilo de subtítulo do Modelo Global</a:t>
            </a:r>
            <a:endParaRPr lang="en-US" dirty="0"/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CED0CAB-5C98-4633-8227-766380E8BC6E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c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3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cxnSp>
        <p:nvCxnSpPr>
          <p:cNvPr id="9" name="Conexão Reta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82FB0-8268-4450-AEFB-7C755E727544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 hasCustomPrompt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6E0A07F-0364-433A-B636-12526FBF2765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9" name="Marcador de Posição do Rodapé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 hasCustomPrompt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 hasCustomPrompt="1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 hasCustomPrompt="1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 texto do 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25BCC9B-3D00-4038-B827-05429894F1D1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11" name="Marcador de Posição do Rodapé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6" name="Marcador de Posição da Dat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E5B8D0D-025A-4217-B697-16EEC070DDC8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7" name="Marcador de Posição do Rodapé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Marcador de Posição do Número do Diapositivo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A763092-FB88-4F2E-B7A9-6AD9CA079CD0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 dirty="0"/>
              <a:t>Clique para editar os estilos de 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E55777FD-C41C-4ED6-9788-E0BDB29FE28C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" name="Marcador de Posição da Imagem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E2C937DC-1FD7-45E0-8375-82F139FBDB0A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lIns="45720" tIns="0" rIns="45720" bIns="0" rtlCol="0"/>
          <a:lstStyle>
            <a:lvl1pPr>
              <a:defRPr/>
            </a:lvl1pPr>
          </a:lstStyle>
          <a:p>
            <a:pPr lvl="0" rtl="0"/>
            <a:r>
              <a:rPr lang="pt-pt" dirty="0"/>
              <a:t>Clique para editar os Estilos de texto do modelo global</a:t>
            </a:r>
          </a:p>
          <a:p>
            <a:pPr lvl="1" rtl="0"/>
            <a:r>
              <a:rPr lang="pt-pt" dirty="0"/>
              <a:t>Segundo nível</a:t>
            </a:r>
          </a:p>
          <a:p>
            <a:pPr lvl="2" rtl="0"/>
            <a:r>
              <a:rPr lang="pt-pt" dirty="0"/>
              <a:t>Terceiro nível</a:t>
            </a:r>
          </a:p>
          <a:p>
            <a:pPr lvl="3" rtl="0"/>
            <a:r>
              <a:rPr lang="pt-pt" dirty="0"/>
              <a:t>Quarto nível</a:t>
            </a:r>
          </a:p>
          <a:p>
            <a:pPr lvl="4" rtl="0"/>
            <a:r>
              <a:rPr lang="pt-pt" dirty="0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222BAA2-AC6B-4746-8053-EDC8606E535A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pt-pt" dirty="0"/>
              <a:t>Clique para editar o estilo do título do Modelo Global</a:t>
            </a:r>
            <a:endParaRPr lang="en-US" dirty="0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pt-PT"/>
              <a:t>Clique para editar os estilos do texto de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DC9CF0-46A2-4AC7-9FA2-8EC67FAC0032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ção do Número do Diapositivo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pt" dirty="0"/>
              <a:t>Clique para editar o estilo do título do Modelo Global</a:t>
            </a:r>
            <a:endParaRPr lang="en-US" dirty="0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pt-pt"/>
              <a:t>Clique para editar os Estilos de texto do modelo global</a:t>
            </a:r>
          </a:p>
          <a:p>
            <a:pPr lvl="1" rtl="0"/>
            <a:r>
              <a:rPr lang="pt-pt"/>
              <a:t>Segundo nível</a:t>
            </a:r>
          </a:p>
          <a:p>
            <a:pPr lvl="2" rtl="0"/>
            <a:r>
              <a:rPr lang="pt-pt"/>
              <a:t>Terceiro nível</a:t>
            </a:r>
          </a:p>
          <a:p>
            <a:pPr lvl="3" rtl="0"/>
            <a:r>
              <a:rPr lang="pt-pt"/>
              <a:t>Quarto nível</a:t>
            </a:r>
          </a:p>
          <a:p>
            <a:pPr lvl="4" rtl="0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1F5BAF06-A1C3-41CD-B482-A3F55490B9C6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xão Reta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ouenfermagem.com.br/fundamentos/regulamentacao-da-enfermagem-nobrasi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150F7-0030-9B90-F348-A0F6C85BA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7CDE7CE2-4207-6494-A5B8-92597E610E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54" b="15483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69609D6-AE40-D97F-B7C8-316DD5B08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80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tângulo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9509" y="-69285"/>
            <a:ext cx="6253317" cy="3161349"/>
          </a:xfrm>
        </p:spPr>
        <p:txBody>
          <a:bodyPr rtlCol="0">
            <a:normAutofit fontScale="90000"/>
          </a:bodyPr>
          <a:lstStyle/>
          <a:p>
            <a:pPr rtl="0"/>
            <a:r>
              <a:rPr lang="pt-PT" dirty="0">
                <a:solidFill>
                  <a:srgbClr val="00B050"/>
                </a:solidFill>
              </a:rPr>
              <a:t>L</a:t>
            </a:r>
            <a:r>
              <a:rPr lang="pt-pt" dirty="0">
                <a:solidFill>
                  <a:srgbClr val="00B050"/>
                </a:solidFill>
              </a:rPr>
              <a:t>egislação de  Enfermagem em Angola</a:t>
            </a:r>
            <a:endParaRPr lang="pt-pt" sz="8000" dirty="0">
              <a:solidFill>
                <a:srgbClr val="00B050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9"/>
            <a:ext cx="6269347" cy="1021498"/>
          </a:xfrm>
        </p:spPr>
        <p:txBody>
          <a:bodyPr rtlCol="0">
            <a:normAutofit/>
          </a:bodyPr>
          <a:lstStyle/>
          <a:p>
            <a:pPr rtl="0"/>
            <a:r>
              <a:rPr lang="pt-PT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POR: </a:t>
            </a:r>
            <a:r>
              <a:rPr lang="pt-PT" sz="24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Esp</a:t>
            </a:r>
            <a:r>
              <a:rPr lang="pt-PT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B</a:t>
            </a:r>
            <a:r>
              <a:rPr lang="pt-pt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RUNO SEBASTIÃO</a:t>
            </a:r>
          </a:p>
        </p:txBody>
      </p:sp>
      <p:pic>
        <p:nvPicPr>
          <p:cNvPr id="5" name="Imagem 4" descr="Uma imagem com um edifício, espaço de repouso, banco, área lateral&#10;&#10;Descrição gerada automaticamente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Conexão Reta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729112B6-81F0-A026-90EF-319F84A514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81" y="0"/>
            <a:ext cx="4635315" cy="6974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C319E0-3F03-5319-6739-AD681A0B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9188" y="432335"/>
            <a:ext cx="7583804" cy="1450757"/>
          </a:xfrm>
        </p:spPr>
        <p:txBody>
          <a:bodyPr>
            <a:normAutofit/>
          </a:bodyPr>
          <a:lstStyle/>
          <a:p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SUMÁRIO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C91034E-26DF-8BC4-2D98-E5CD7586F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82CF5B7-959B-2B07-1008-F305295A1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  <p:grpSp>
        <p:nvGrpSpPr>
          <p:cNvPr id="5" name="Grupo 2">
            <a:extLst>
              <a:ext uri="{FF2B5EF4-FFF2-40B4-BE49-F238E27FC236}">
                <a16:creationId xmlns:a16="http://schemas.microsoft.com/office/drawing/2014/main" id="{18AFBFDF-D664-2002-AB66-325B52CC8ED9}"/>
              </a:ext>
            </a:extLst>
          </p:cNvPr>
          <p:cNvGrpSpPr/>
          <p:nvPr/>
        </p:nvGrpSpPr>
        <p:grpSpPr>
          <a:xfrm>
            <a:off x="-8880054" y="2186978"/>
            <a:ext cx="10608469" cy="982800"/>
            <a:chOff x="1040234" y="1325461"/>
            <a:chExt cx="10608469" cy="982800"/>
          </a:xfrm>
        </p:grpSpPr>
        <p:sp>
          <p:nvSpPr>
            <p:cNvPr id="6" name="Retângulo arredondado 3">
              <a:extLst>
                <a:ext uri="{FF2B5EF4-FFF2-40B4-BE49-F238E27FC236}">
                  <a16:creationId xmlns:a16="http://schemas.microsoft.com/office/drawing/2014/main" id="{0992BA3D-F2E7-4F3E-7119-412E448A62EB}"/>
                </a:ext>
              </a:extLst>
            </p:cNvPr>
            <p:cNvSpPr/>
            <p:nvPr/>
          </p:nvSpPr>
          <p:spPr>
            <a:xfrm>
              <a:off x="1040234" y="1325461"/>
              <a:ext cx="10490400" cy="982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/>
              <a:endParaRPr lang="pt-PT" sz="1600" dirty="0">
                <a:solidFill>
                  <a:schemeClr val="tx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7" name="Título 1">
              <a:extLst>
                <a:ext uri="{FF2B5EF4-FFF2-40B4-BE49-F238E27FC236}">
                  <a16:creationId xmlns:a16="http://schemas.microsoft.com/office/drawing/2014/main" id="{B3F668C7-2E4B-0BED-4870-A595338EFBEC}"/>
                </a:ext>
              </a:extLst>
            </p:cNvPr>
            <p:cNvSpPr txBox="1">
              <a:spLocks/>
            </p:cNvSpPr>
            <p:nvPr/>
          </p:nvSpPr>
          <p:spPr>
            <a:xfrm>
              <a:off x="4593564" y="1422885"/>
              <a:ext cx="7055139" cy="709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pt-PT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INTRODUÇÃO</a:t>
              </a:r>
            </a:p>
          </p:txBody>
        </p:sp>
      </p:grpSp>
      <p:sp>
        <p:nvSpPr>
          <p:cNvPr id="8" name="Forma livre 5">
            <a:extLst>
              <a:ext uri="{FF2B5EF4-FFF2-40B4-BE49-F238E27FC236}">
                <a16:creationId xmlns:a16="http://schemas.microsoft.com/office/drawing/2014/main" id="{800360CC-931A-EEED-5315-F1EEDCE779B1}"/>
              </a:ext>
            </a:extLst>
          </p:cNvPr>
          <p:cNvSpPr/>
          <p:nvPr/>
        </p:nvSpPr>
        <p:spPr>
          <a:xfrm>
            <a:off x="-2446854" y="2108201"/>
            <a:ext cx="4057200" cy="982800"/>
          </a:xfrm>
          <a:custGeom>
            <a:avLst/>
            <a:gdLst>
              <a:gd name="connsiteX0" fmla="*/ 0 w 4057200"/>
              <a:gd name="connsiteY0" fmla="*/ 0 h 982800"/>
              <a:gd name="connsiteX1" fmla="*/ 4057200 w 4057200"/>
              <a:gd name="connsiteY1" fmla="*/ 0 h 982800"/>
              <a:gd name="connsiteX2" fmla="*/ 4057200 w 4057200"/>
              <a:gd name="connsiteY2" fmla="*/ 139063 h 982800"/>
              <a:gd name="connsiteX3" fmla="*/ 3679695 w 4057200"/>
              <a:gd name="connsiteY3" fmla="*/ 491400 h 982800"/>
              <a:gd name="connsiteX4" fmla="*/ 4057200 w 4057200"/>
              <a:gd name="connsiteY4" fmla="*/ 843737 h 982800"/>
              <a:gd name="connsiteX5" fmla="*/ 4057200 w 4057200"/>
              <a:gd name="connsiteY5" fmla="*/ 982800 h 982800"/>
              <a:gd name="connsiteX6" fmla="*/ 0 w 4057200"/>
              <a:gd name="connsiteY6" fmla="*/ 982800 h 9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7200" h="982800">
                <a:moveTo>
                  <a:pt x="0" y="0"/>
                </a:moveTo>
                <a:lnTo>
                  <a:pt x="4057200" y="0"/>
                </a:lnTo>
                <a:lnTo>
                  <a:pt x="4057200" y="139063"/>
                </a:lnTo>
                <a:cubicBezTo>
                  <a:pt x="3848710" y="139063"/>
                  <a:pt x="3679695" y="296810"/>
                  <a:pt x="3679695" y="491400"/>
                </a:cubicBezTo>
                <a:cubicBezTo>
                  <a:pt x="3679695" y="685990"/>
                  <a:pt x="3848710" y="843737"/>
                  <a:pt x="4057200" y="843737"/>
                </a:cubicBezTo>
                <a:lnTo>
                  <a:pt x="4057200" y="982800"/>
                </a:lnTo>
                <a:lnTo>
                  <a:pt x="0" y="982800"/>
                </a:lnTo>
                <a:close/>
              </a:path>
            </a:pathLst>
          </a:custGeom>
          <a:gradFill flip="none" rotWithShape="1">
            <a:gsLst>
              <a:gs pos="50600">
                <a:srgbClr val="EE373B"/>
              </a:gs>
              <a:gs pos="0">
                <a:srgbClr val="EE373B"/>
              </a:gs>
              <a:gs pos="100000">
                <a:srgbClr val="FF738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latin typeface="Agency FB" panose="020B0503020202020204" pitchFamily="34" charset="0"/>
              </a:rPr>
              <a:t>                                    </a:t>
            </a:r>
            <a:r>
              <a:rPr lang="pt-PT" sz="3200" b="1" dirty="0">
                <a:latin typeface="Agency FB" panose="020B0503020202020204" pitchFamily="34" charset="0"/>
              </a:rPr>
              <a:t>01</a:t>
            </a:r>
          </a:p>
        </p:txBody>
      </p:sp>
      <p:grpSp>
        <p:nvGrpSpPr>
          <p:cNvPr id="9" name="Grupo 6">
            <a:extLst>
              <a:ext uri="{FF2B5EF4-FFF2-40B4-BE49-F238E27FC236}">
                <a16:creationId xmlns:a16="http://schemas.microsoft.com/office/drawing/2014/main" id="{DE549BBA-DC4D-C07F-0788-9282929285F7}"/>
              </a:ext>
            </a:extLst>
          </p:cNvPr>
          <p:cNvGrpSpPr/>
          <p:nvPr/>
        </p:nvGrpSpPr>
        <p:grpSpPr>
          <a:xfrm>
            <a:off x="-8232354" y="3137466"/>
            <a:ext cx="10490400" cy="982800"/>
            <a:chOff x="1040234" y="1325461"/>
            <a:chExt cx="10490400" cy="982800"/>
          </a:xfrm>
        </p:grpSpPr>
        <p:sp>
          <p:nvSpPr>
            <p:cNvPr id="10" name="Retângulo arredondado 7">
              <a:extLst>
                <a:ext uri="{FF2B5EF4-FFF2-40B4-BE49-F238E27FC236}">
                  <a16:creationId xmlns:a16="http://schemas.microsoft.com/office/drawing/2014/main" id="{BD5F2AEE-EAD6-6148-4156-4F3BF36C79B7}"/>
                </a:ext>
              </a:extLst>
            </p:cNvPr>
            <p:cNvSpPr/>
            <p:nvPr/>
          </p:nvSpPr>
          <p:spPr>
            <a:xfrm>
              <a:off x="1040234" y="1325461"/>
              <a:ext cx="10490400" cy="982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pt-PT" sz="1600" dirty="0">
                <a:solidFill>
                  <a:schemeClr val="tx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7662F8E4-F7FB-4108-ADDC-13CDE6148272}"/>
                </a:ext>
              </a:extLst>
            </p:cNvPr>
            <p:cNvSpPr txBox="1">
              <a:spLocks/>
            </p:cNvSpPr>
            <p:nvPr/>
          </p:nvSpPr>
          <p:spPr>
            <a:xfrm>
              <a:off x="3469198" y="1493015"/>
              <a:ext cx="7055139" cy="709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pt-PT" sz="1700" b="1" dirty="0"/>
                <a:t> </a:t>
              </a:r>
              <a:r>
                <a:rPr lang="pt-PT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FUNDAMENTAÇÃO TEÓRICA </a:t>
              </a:r>
            </a:p>
          </p:txBody>
        </p:sp>
      </p:grpSp>
      <p:sp>
        <p:nvSpPr>
          <p:cNvPr id="12" name="Forma livre 9">
            <a:extLst>
              <a:ext uri="{FF2B5EF4-FFF2-40B4-BE49-F238E27FC236}">
                <a16:creationId xmlns:a16="http://schemas.microsoft.com/office/drawing/2014/main" id="{12A62302-B975-BBF5-5862-7FE8F5DDA432}"/>
              </a:ext>
            </a:extLst>
          </p:cNvPr>
          <p:cNvSpPr/>
          <p:nvPr/>
        </p:nvSpPr>
        <p:spPr>
          <a:xfrm>
            <a:off x="-1799154" y="3058689"/>
            <a:ext cx="4057200" cy="982800"/>
          </a:xfrm>
          <a:custGeom>
            <a:avLst/>
            <a:gdLst>
              <a:gd name="connsiteX0" fmla="*/ 0 w 4057200"/>
              <a:gd name="connsiteY0" fmla="*/ 0 h 982800"/>
              <a:gd name="connsiteX1" fmla="*/ 4057200 w 4057200"/>
              <a:gd name="connsiteY1" fmla="*/ 0 h 982800"/>
              <a:gd name="connsiteX2" fmla="*/ 4057200 w 4057200"/>
              <a:gd name="connsiteY2" fmla="*/ 139063 h 982800"/>
              <a:gd name="connsiteX3" fmla="*/ 3679695 w 4057200"/>
              <a:gd name="connsiteY3" fmla="*/ 491400 h 982800"/>
              <a:gd name="connsiteX4" fmla="*/ 4057200 w 4057200"/>
              <a:gd name="connsiteY4" fmla="*/ 843737 h 982800"/>
              <a:gd name="connsiteX5" fmla="*/ 4057200 w 4057200"/>
              <a:gd name="connsiteY5" fmla="*/ 982800 h 982800"/>
              <a:gd name="connsiteX6" fmla="*/ 0 w 4057200"/>
              <a:gd name="connsiteY6" fmla="*/ 982800 h 9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7200" h="982800">
                <a:moveTo>
                  <a:pt x="0" y="0"/>
                </a:moveTo>
                <a:lnTo>
                  <a:pt x="4057200" y="0"/>
                </a:lnTo>
                <a:lnTo>
                  <a:pt x="4057200" y="139063"/>
                </a:lnTo>
                <a:cubicBezTo>
                  <a:pt x="3848710" y="139063"/>
                  <a:pt x="3679695" y="296810"/>
                  <a:pt x="3679695" y="491400"/>
                </a:cubicBezTo>
                <a:cubicBezTo>
                  <a:pt x="3679695" y="685990"/>
                  <a:pt x="3848710" y="843737"/>
                  <a:pt x="4057200" y="843737"/>
                </a:cubicBezTo>
                <a:lnTo>
                  <a:pt x="4057200" y="982800"/>
                </a:lnTo>
                <a:lnTo>
                  <a:pt x="0" y="982800"/>
                </a:lnTo>
                <a:close/>
              </a:path>
            </a:pathLst>
          </a:custGeom>
          <a:gradFill>
            <a:gsLst>
              <a:gs pos="44000">
                <a:srgbClr val="FF410D"/>
              </a:gs>
              <a:gs pos="0">
                <a:srgbClr val="FF410D"/>
              </a:gs>
              <a:gs pos="100000">
                <a:srgbClr val="FEAA13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latin typeface="Agency FB" panose="020B0503020202020204" pitchFamily="34" charset="0"/>
              </a:rPr>
              <a:t>                                    </a:t>
            </a:r>
            <a:r>
              <a:rPr lang="pt-PT" sz="3200" b="1" dirty="0">
                <a:latin typeface="Agency FB" panose="020B0503020202020204" pitchFamily="34" charset="0"/>
              </a:rPr>
              <a:t>02</a:t>
            </a:r>
          </a:p>
        </p:txBody>
      </p:sp>
      <p:grpSp>
        <p:nvGrpSpPr>
          <p:cNvPr id="13" name="Grupo 10">
            <a:extLst>
              <a:ext uri="{FF2B5EF4-FFF2-40B4-BE49-F238E27FC236}">
                <a16:creationId xmlns:a16="http://schemas.microsoft.com/office/drawing/2014/main" id="{73D8B387-BAD4-0FBB-2844-FFB39CFC7D0A}"/>
              </a:ext>
            </a:extLst>
          </p:cNvPr>
          <p:cNvGrpSpPr/>
          <p:nvPr/>
        </p:nvGrpSpPr>
        <p:grpSpPr>
          <a:xfrm>
            <a:off x="-7584654" y="4087954"/>
            <a:ext cx="10490400" cy="982800"/>
            <a:chOff x="1040234" y="1325461"/>
            <a:chExt cx="10490400" cy="982800"/>
          </a:xfrm>
        </p:grpSpPr>
        <p:sp>
          <p:nvSpPr>
            <p:cNvPr id="14" name="Retângulo arredondado 11">
              <a:extLst>
                <a:ext uri="{FF2B5EF4-FFF2-40B4-BE49-F238E27FC236}">
                  <a16:creationId xmlns:a16="http://schemas.microsoft.com/office/drawing/2014/main" id="{2652E89E-B2A0-B61D-59C6-0AC8500221B7}"/>
                </a:ext>
              </a:extLst>
            </p:cNvPr>
            <p:cNvSpPr/>
            <p:nvPr/>
          </p:nvSpPr>
          <p:spPr>
            <a:xfrm>
              <a:off x="1040234" y="1325461"/>
              <a:ext cx="10490400" cy="982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pt-PT" sz="1600" dirty="0">
                <a:solidFill>
                  <a:schemeClr val="tx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5" name="Título 1">
              <a:extLst>
                <a:ext uri="{FF2B5EF4-FFF2-40B4-BE49-F238E27FC236}">
                  <a16:creationId xmlns:a16="http://schemas.microsoft.com/office/drawing/2014/main" id="{DC773CF6-9AA8-E051-7CF8-6C5A4349DB4C}"/>
                </a:ext>
              </a:extLst>
            </p:cNvPr>
            <p:cNvSpPr txBox="1">
              <a:spLocks/>
            </p:cNvSpPr>
            <p:nvPr/>
          </p:nvSpPr>
          <p:spPr>
            <a:xfrm>
              <a:off x="2339241" y="1352754"/>
              <a:ext cx="7582773" cy="709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pt-PT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CONCLUSÃO</a:t>
              </a:r>
            </a:p>
          </p:txBody>
        </p:sp>
      </p:grpSp>
      <p:sp>
        <p:nvSpPr>
          <p:cNvPr id="16" name="Forma livre 13">
            <a:extLst>
              <a:ext uri="{FF2B5EF4-FFF2-40B4-BE49-F238E27FC236}">
                <a16:creationId xmlns:a16="http://schemas.microsoft.com/office/drawing/2014/main" id="{92BD51E4-0EEC-58DD-7997-0456D91CBE62}"/>
              </a:ext>
            </a:extLst>
          </p:cNvPr>
          <p:cNvSpPr/>
          <p:nvPr/>
        </p:nvSpPr>
        <p:spPr>
          <a:xfrm>
            <a:off x="-1151454" y="4009177"/>
            <a:ext cx="4057200" cy="982800"/>
          </a:xfrm>
          <a:custGeom>
            <a:avLst/>
            <a:gdLst>
              <a:gd name="connsiteX0" fmla="*/ 0 w 4057200"/>
              <a:gd name="connsiteY0" fmla="*/ 0 h 982800"/>
              <a:gd name="connsiteX1" fmla="*/ 4057200 w 4057200"/>
              <a:gd name="connsiteY1" fmla="*/ 0 h 982800"/>
              <a:gd name="connsiteX2" fmla="*/ 4057200 w 4057200"/>
              <a:gd name="connsiteY2" fmla="*/ 139063 h 982800"/>
              <a:gd name="connsiteX3" fmla="*/ 3679695 w 4057200"/>
              <a:gd name="connsiteY3" fmla="*/ 491400 h 982800"/>
              <a:gd name="connsiteX4" fmla="*/ 4057200 w 4057200"/>
              <a:gd name="connsiteY4" fmla="*/ 843737 h 982800"/>
              <a:gd name="connsiteX5" fmla="*/ 4057200 w 4057200"/>
              <a:gd name="connsiteY5" fmla="*/ 982800 h 982800"/>
              <a:gd name="connsiteX6" fmla="*/ 0 w 4057200"/>
              <a:gd name="connsiteY6" fmla="*/ 982800 h 9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7200" h="982800">
                <a:moveTo>
                  <a:pt x="0" y="0"/>
                </a:moveTo>
                <a:lnTo>
                  <a:pt x="4057200" y="0"/>
                </a:lnTo>
                <a:lnTo>
                  <a:pt x="4057200" y="139063"/>
                </a:lnTo>
                <a:cubicBezTo>
                  <a:pt x="3848710" y="139063"/>
                  <a:pt x="3679695" y="296810"/>
                  <a:pt x="3679695" y="491400"/>
                </a:cubicBezTo>
                <a:cubicBezTo>
                  <a:pt x="3679695" y="685990"/>
                  <a:pt x="3848710" y="843737"/>
                  <a:pt x="4057200" y="843737"/>
                </a:cubicBezTo>
                <a:lnTo>
                  <a:pt x="4057200" y="982800"/>
                </a:lnTo>
                <a:lnTo>
                  <a:pt x="0" y="982800"/>
                </a:lnTo>
                <a:close/>
              </a:path>
            </a:pathLst>
          </a:custGeom>
          <a:gradFill>
            <a:gsLst>
              <a:gs pos="44000">
                <a:srgbClr val="2D9024"/>
              </a:gs>
              <a:gs pos="0">
                <a:srgbClr val="2D9024"/>
              </a:gs>
              <a:gs pos="100000">
                <a:srgbClr val="8BC04C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latin typeface="Agency FB" panose="020B0503020202020204" pitchFamily="34" charset="0"/>
              </a:rPr>
              <a:t>                                    </a:t>
            </a:r>
            <a:r>
              <a:rPr lang="pt-PT" sz="3200" b="1" dirty="0">
                <a:latin typeface="Agency FB" panose="020B0503020202020204" pitchFamily="34" charset="0"/>
              </a:rPr>
              <a:t>03</a:t>
            </a:r>
          </a:p>
        </p:txBody>
      </p:sp>
      <p:grpSp>
        <p:nvGrpSpPr>
          <p:cNvPr id="17" name="Grupo 18">
            <a:extLst>
              <a:ext uri="{FF2B5EF4-FFF2-40B4-BE49-F238E27FC236}">
                <a16:creationId xmlns:a16="http://schemas.microsoft.com/office/drawing/2014/main" id="{EF9DA665-5A25-77E4-3A91-439B1EEBF98F}"/>
              </a:ext>
            </a:extLst>
          </p:cNvPr>
          <p:cNvGrpSpPr/>
          <p:nvPr/>
        </p:nvGrpSpPr>
        <p:grpSpPr>
          <a:xfrm>
            <a:off x="-6964676" y="4789450"/>
            <a:ext cx="10490400" cy="982800"/>
            <a:chOff x="1040234" y="1325461"/>
            <a:chExt cx="10490400" cy="982800"/>
          </a:xfrm>
        </p:grpSpPr>
        <p:sp>
          <p:nvSpPr>
            <p:cNvPr id="18" name="Retângulo arredondado 19">
              <a:extLst>
                <a:ext uri="{FF2B5EF4-FFF2-40B4-BE49-F238E27FC236}">
                  <a16:creationId xmlns:a16="http://schemas.microsoft.com/office/drawing/2014/main" id="{FA06C7DD-80D8-67BE-D5DF-2125A9C6E561}"/>
                </a:ext>
              </a:extLst>
            </p:cNvPr>
            <p:cNvSpPr/>
            <p:nvPr/>
          </p:nvSpPr>
          <p:spPr>
            <a:xfrm>
              <a:off x="1040234" y="1325461"/>
              <a:ext cx="10490400" cy="982800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pt-PT" sz="1600" dirty="0">
                <a:solidFill>
                  <a:schemeClr val="tx1"/>
                </a:solidFill>
                <a:latin typeface="Agency FB" panose="020B0503020202020204" pitchFamily="34" charset="0"/>
              </a:endParaRPr>
            </a:p>
          </p:txBody>
        </p:sp>
        <p:sp>
          <p:nvSpPr>
            <p:cNvPr id="19" name="Título 1">
              <a:extLst>
                <a:ext uri="{FF2B5EF4-FFF2-40B4-BE49-F238E27FC236}">
                  <a16:creationId xmlns:a16="http://schemas.microsoft.com/office/drawing/2014/main" id="{9557E67C-760E-DC32-EE57-B49BBFB6C019}"/>
                </a:ext>
              </a:extLst>
            </p:cNvPr>
            <p:cNvSpPr txBox="1">
              <a:spLocks/>
            </p:cNvSpPr>
            <p:nvPr/>
          </p:nvSpPr>
          <p:spPr>
            <a:xfrm>
              <a:off x="2601913" y="1501315"/>
              <a:ext cx="7055139" cy="709176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r>
                <a:rPr lang="pt-PT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REFERÊNCIA</a:t>
              </a:r>
            </a:p>
          </p:txBody>
        </p:sp>
      </p:grpSp>
      <p:sp>
        <p:nvSpPr>
          <p:cNvPr id="20" name="Forma livre 17">
            <a:extLst>
              <a:ext uri="{FF2B5EF4-FFF2-40B4-BE49-F238E27FC236}">
                <a16:creationId xmlns:a16="http://schemas.microsoft.com/office/drawing/2014/main" id="{AC5AD34D-45BD-1AEE-A4FB-E3F75C469452}"/>
              </a:ext>
            </a:extLst>
          </p:cNvPr>
          <p:cNvSpPr/>
          <p:nvPr/>
        </p:nvSpPr>
        <p:spPr>
          <a:xfrm>
            <a:off x="-1485909" y="4757457"/>
            <a:ext cx="4057200" cy="982800"/>
          </a:xfrm>
          <a:custGeom>
            <a:avLst/>
            <a:gdLst>
              <a:gd name="connsiteX0" fmla="*/ 0 w 4057200"/>
              <a:gd name="connsiteY0" fmla="*/ 0 h 982800"/>
              <a:gd name="connsiteX1" fmla="*/ 4057200 w 4057200"/>
              <a:gd name="connsiteY1" fmla="*/ 0 h 982800"/>
              <a:gd name="connsiteX2" fmla="*/ 4057200 w 4057200"/>
              <a:gd name="connsiteY2" fmla="*/ 139063 h 982800"/>
              <a:gd name="connsiteX3" fmla="*/ 3679695 w 4057200"/>
              <a:gd name="connsiteY3" fmla="*/ 491400 h 982800"/>
              <a:gd name="connsiteX4" fmla="*/ 4057200 w 4057200"/>
              <a:gd name="connsiteY4" fmla="*/ 843737 h 982800"/>
              <a:gd name="connsiteX5" fmla="*/ 4057200 w 4057200"/>
              <a:gd name="connsiteY5" fmla="*/ 982800 h 982800"/>
              <a:gd name="connsiteX6" fmla="*/ 0 w 4057200"/>
              <a:gd name="connsiteY6" fmla="*/ 982800 h 9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57200" h="982800">
                <a:moveTo>
                  <a:pt x="0" y="0"/>
                </a:moveTo>
                <a:lnTo>
                  <a:pt x="4057200" y="0"/>
                </a:lnTo>
                <a:lnTo>
                  <a:pt x="4057200" y="139063"/>
                </a:lnTo>
                <a:cubicBezTo>
                  <a:pt x="3848710" y="139063"/>
                  <a:pt x="3679695" y="296810"/>
                  <a:pt x="3679695" y="491400"/>
                </a:cubicBezTo>
                <a:cubicBezTo>
                  <a:pt x="3679695" y="685990"/>
                  <a:pt x="3848710" y="843737"/>
                  <a:pt x="4057200" y="843737"/>
                </a:cubicBezTo>
                <a:lnTo>
                  <a:pt x="4057200" y="982800"/>
                </a:lnTo>
                <a:lnTo>
                  <a:pt x="0" y="982800"/>
                </a:lnTo>
                <a:close/>
              </a:path>
            </a:pathLst>
          </a:custGeom>
          <a:gradFill>
            <a:gsLst>
              <a:gs pos="44000">
                <a:srgbClr val="187058"/>
              </a:gs>
              <a:gs pos="0">
                <a:srgbClr val="187058"/>
              </a:gs>
              <a:gs pos="100000">
                <a:srgbClr val="22AE87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3200" dirty="0">
                <a:latin typeface="Agency FB" panose="020B0503020202020204" pitchFamily="34" charset="0"/>
              </a:rPr>
              <a:t>                                    </a:t>
            </a:r>
            <a:r>
              <a:rPr lang="pt-PT" sz="3200" b="1" dirty="0">
                <a:latin typeface="Agency FB" panose="020B0503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7600219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1.48148E-6 L 0.64258 -0.0092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35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11111E-6 L 0.64258 -0.00926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22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64258 -0.00925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22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59259E-6 L 0.64258 -0.00926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122" y="-4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rtlCol="0" anchor="ctr">
            <a:noAutofit/>
          </a:bodyPr>
          <a:lstStyle/>
          <a:p>
            <a:pPr lvl="0" algn="just"/>
            <a:r>
              <a:rPr lang="pt-PT" sz="2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começou a se estruturar a partir da década de 80. Em 1992, foi aprovada a Lei n° 21-B/92, que serviu de base para o Sistema Nacional de Saúde. Em 2010, o Decreto Presidencial n° 179/10 criou a Ordem dos Enfermeiros de Angola, definindo a regulação da profissão. Em 2018, o Decreto n° 187/18 estabeleceu o regime jurídico da carreira de enfermagem, com categorias e competências, e, mais recentemente,* Decreto n° 212/23 regulou a formação especializada. Esses diplomas formam a espinha dorsal da prática profissional de enfermagem no país.</a:t>
            </a:r>
            <a:endParaRPr lang="pt-pt" sz="2800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Retângulo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 rtlCol="0">
            <a:normAutofit/>
          </a:bodyPr>
          <a:lstStyle/>
          <a:p>
            <a:r>
              <a:rPr lang="pt-PT" dirty="0">
                <a:solidFill>
                  <a:schemeClr val="bg1"/>
                </a:solidFill>
              </a:rPr>
              <a:t>ENFERMAGEM É AREA DA SAÚDE QUE SE DEDICA NO CUIDADO DO PACIENTE.</a:t>
            </a:r>
            <a:endParaRPr lang="pt-pt" dirty="0">
              <a:solidFill>
                <a:schemeClr val="bg1"/>
              </a:solidFill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F8B77A8-5F20-541E-6064-652294D38E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19725" y="-14288"/>
            <a:ext cx="12610185" cy="4967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1CA0B1-29F1-31E7-A6E9-9CE4355DC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5940" y="1014258"/>
            <a:ext cx="10058400" cy="742939"/>
          </a:xfrm>
        </p:spPr>
        <p:txBody>
          <a:bodyPr>
            <a:normAutofit/>
          </a:bodyPr>
          <a:lstStyle/>
          <a:p>
            <a:r>
              <a:rPr lang="pt-PT" sz="4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LEGISLAÇÃO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B3AB1D0A-1E58-9FB9-4A77-5A96DE6F36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659" y="2101757"/>
            <a:ext cx="10176681" cy="505476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legislação É o conjunto de leis, normas decretos e regulamentos criados para organizar a sociedade.</a:t>
            </a:r>
          </a:p>
          <a:p>
            <a:pPr marL="0" indent="0" algn="just">
              <a:buNone/>
            </a:pPr>
            <a:r>
              <a:rPr lang="pt-PT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legislação de enfermagem corresponde ao conjunto de normas que regulam o exercício da profissão. A enfermagem é uma profissão essencial no sistema de saúde, exercida com base em conhecimentos científicos, princípios éticos e normas legais.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6FBDA5A-2E1C-2D40-7BB3-5D61654B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C27B1B3-0B44-47DD-3C12-AD75B63D3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r="15797" b="-1"/>
          <a:stretch>
            <a:fillRect/>
          </a:stretch>
        </p:blipFill>
        <p:spPr>
          <a:xfrm>
            <a:off x="6905408" y="1"/>
            <a:ext cx="5286592" cy="15319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078147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7EFADD4-AFF6-B458-AE63-A76A77FA1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pt-pt" sz="4000" b="0" kern="1200" cap="all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LEGISLAÇÃO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191EF1A-FC0D-A510-DB69-5CA17F102B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8865586" cy="4204949"/>
          </a:xfrm>
        </p:spPr>
        <p:txBody>
          <a:bodyPr vert="horz" lIns="0" tIns="45720" rIns="0" bIns="45720" rtlCol="0">
            <a:noAutofit/>
          </a:bodyPr>
          <a:lstStyle/>
          <a:p>
            <a:pPr algn="just"/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Começou a se estruturar a partir de 1992, quando foi aprovada a Lei n° 21-B/92, que serviu de base para o Sistema Nacional de Saúde. Em 2010, o Decreto Presidencial n° 179/10 criou a Ordem dos Enfermeiros de Angola, definindo a regulação da profissão. E mais recentemente, Decreto n° 212/23 regulou a formação especializada. Esses diplomas formam a espinha dorsal da prática profissional de enfermagem no país.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67FCF95-010F-FEA7-2752-5D50F4ED2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5" r="15797" b="-1"/>
          <a:stretch>
            <a:fillRect/>
          </a:stretch>
        </p:blipFill>
        <p:spPr>
          <a:xfrm>
            <a:off x="6905408" y="-1"/>
            <a:ext cx="5286592" cy="1897039"/>
          </a:xfrm>
          <a:prstGeom prst="rect">
            <a:avLst/>
          </a:prstGeom>
          <a:noFill/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3FCA589-D1FE-97C3-9967-0081D9B6C3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BC3D2EF-A9F1-401A-8C02-1662D96CBA0D}" type="datetime1">
              <a:rPr lang="pt-PT" smtClean="0"/>
              <a:pPr>
                <a:spcAft>
                  <a:spcPts val="600"/>
                </a:spcAft>
              </a:pPr>
              <a:t>10/05/2026</a:t>
            </a:fld>
            <a:endParaRPr lang="en-US"/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ABA08B38-D4BE-7B00-BA1E-84060C66C540}"/>
              </a:ext>
            </a:extLst>
          </p:cNvPr>
          <p:cNvSpPr txBox="1">
            <a:spLocks/>
          </p:cNvSpPr>
          <p:nvPr/>
        </p:nvSpPr>
        <p:spPr>
          <a:xfrm>
            <a:off x="6515944" y="2057400"/>
            <a:ext cx="4639736" cy="7362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pt-pt" sz="2000" b="0" kern="1200" cap="all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8736963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25964-6251-A231-9EF8-31F7B1CA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47" y="286603"/>
            <a:ext cx="11709778" cy="1450757"/>
          </a:xfrm>
        </p:spPr>
        <p:txBody>
          <a:bodyPr anchor="b">
            <a:normAutofit/>
          </a:bodyPr>
          <a:lstStyle/>
          <a:p>
            <a:r>
              <a:rPr lang="pt-PT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Ordenfa</a:t>
            </a:r>
            <a:r>
              <a:rPr lang="pt-PT" dirty="0">
                <a:solidFill>
                  <a:srgbClr val="00B050"/>
                </a:solidFill>
              </a:rPr>
              <a:t>. </a:t>
            </a:r>
            <a:r>
              <a:rPr lang="pt-PT" sz="2000" dirty="0">
                <a:solidFill>
                  <a:srgbClr val="00B050"/>
                </a:solidFill>
              </a:rPr>
              <a:t>Decreto Presidencial nº 179/10 </a:t>
            </a:r>
            <a:endParaRPr lang="pt-PT" sz="20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CA1251D-1919-911D-0632-31DC114B94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6485" y="957512"/>
            <a:ext cx="11570840" cy="5687582"/>
          </a:xfrm>
        </p:spPr>
        <p:txBody>
          <a:bodyPr>
            <a:normAutofit fontScale="85000" lnSpcReduction="10000"/>
          </a:bodyPr>
          <a:lstStyle/>
          <a:p>
            <a:endParaRPr lang="pt-PT" dirty="0"/>
          </a:p>
          <a:p>
            <a:endParaRPr lang="pt-PT" dirty="0"/>
          </a:p>
          <a:p>
            <a:r>
              <a:rPr lang="pt-PT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uma instituição de utilidade pública é órgão de autorregulação dos assuntos que dizem respeito à actividade de enfermagem. Tem como objectivos principais a regulação e fiscalização da profissão, garantindo o cumprimento das normas éticas e técnicas no exercício da enfermagem.</a:t>
            </a:r>
          </a:p>
          <a:p>
            <a:pPr marL="0" indent="0" algn="just">
              <a:buNone/>
            </a:pP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exercício da enfermagem é regulamentado por instrumentos legais:</a:t>
            </a:r>
          </a:p>
          <a:p>
            <a:pPr algn="just">
              <a:buClr>
                <a:schemeClr val="tx1"/>
              </a:buClr>
            </a:pP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1-O estatuto da carreira de Enfermagem:</a:t>
            </a:r>
            <a:r>
              <a:rPr lang="pt-PT" sz="3200" b="1" dirty="0"/>
              <a:t> Decreto Presidencial n.º 187/18</a:t>
            </a:r>
          </a:p>
          <a:p>
            <a:pPr marL="0" indent="0" algn="just">
              <a:buClr>
                <a:schemeClr val="tx1"/>
              </a:buClr>
              <a:buNone/>
            </a:pPr>
            <a:r>
              <a:rPr lang="pt-PT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2- O código de ética e deontologia dos profissionais de Enfermagem.</a:t>
            </a:r>
          </a:p>
          <a:p>
            <a:endParaRPr lang="pt-PT" sz="3600" dirty="0"/>
          </a:p>
          <a:p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Marcador de Posição de Conteúdo 5">
            <a:extLst>
              <a:ext uri="{FF2B5EF4-FFF2-40B4-BE49-F238E27FC236}">
                <a16:creationId xmlns:a16="http://schemas.microsoft.com/office/drawing/2014/main" id="{2ED6D689-3B87-C348-DBF5-7409DA0FFE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4" b="16311"/>
          <a:stretch>
            <a:fillRect/>
          </a:stretch>
        </p:blipFill>
        <p:spPr>
          <a:xfrm>
            <a:off x="9452474" y="30271"/>
            <a:ext cx="2584851" cy="1707089"/>
          </a:xfrm>
          <a:prstGeom prst="rect">
            <a:avLst/>
          </a:prstGeom>
          <a:noFill/>
        </p:spPr>
      </p:pic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1604937-C625-2740-33E2-554D1F1E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BBC3D2EF-A9F1-401A-8C02-1662D96CBA0D}" type="datetime1">
              <a:rPr lang="pt-PT" smtClean="0"/>
              <a:pPr rtl="0">
                <a:spcAft>
                  <a:spcPts val="600"/>
                </a:spcAft>
              </a:pPr>
              <a:t>10/05/2026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692744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719CF79-3104-B0B7-E2AC-68A70F6E3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3279" y="1908179"/>
            <a:ext cx="10058400" cy="1931536"/>
          </a:xfrm>
        </p:spPr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Documento legal que regula o exercício da enfermagem em Angola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normas profissionais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 a profissão</a:t>
            </a:r>
          </a:p>
          <a:p>
            <a:pPr marL="457200" indent="-457200"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Protege os direitos dos profissionais e pacientes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81D4B8E6-27C8-7BA1-4E1C-D8D70A8E2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7DCACB-92B6-FA95-F5ED-E3CF5138B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63" y="287338"/>
            <a:ext cx="10058400" cy="1449387"/>
          </a:xfrm>
        </p:spPr>
        <p:txBody>
          <a:bodyPr/>
          <a:lstStyle/>
          <a:p>
            <a:pPr>
              <a:defRPr sz="2800" b="1">
                <a:solidFill>
                  <a:srgbClr val="008000"/>
                </a:solidFill>
              </a:defRPr>
            </a:pP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Estatuto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Ordem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dos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Enfermeiros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28337CB-FB2F-C13D-8F02-A21B01A75DE0}"/>
              </a:ext>
            </a:extLst>
          </p:cNvPr>
          <p:cNvSpPr txBox="1">
            <a:spLocks/>
          </p:cNvSpPr>
          <p:nvPr/>
        </p:nvSpPr>
        <p:spPr>
          <a:xfrm>
            <a:off x="1096963" y="3268215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00" b="1">
                <a:solidFill>
                  <a:srgbClr val="008000"/>
                </a:solidFill>
              </a:defRPr>
            </a:pPr>
            <a:r>
              <a:rPr lang="pt-PT" sz="2800" b="1" dirty="0">
                <a:solidFill>
                  <a:srgbClr val="008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Competências da Ordem dos Enfermeiros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59B6FA-631E-E283-291B-C6B5B0860DDA}"/>
              </a:ext>
            </a:extLst>
          </p:cNvPr>
          <p:cNvSpPr txBox="1"/>
          <p:nvPr/>
        </p:nvSpPr>
        <p:spPr>
          <a:xfrm>
            <a:off x="2023279" y="4258467"/>
            <a:ext cx="6093724" cy="188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Fiscalizar o exercício profissional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Garantir o cumprimento da ética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Promover formação contínua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  <a:defRPr sz="2000">
                <a:solidFill>
                  <a:srgbClr val="000000"/>
                </a:solidFill>
              </a:defRPr>
            </a:pPr>
            <a:r>
              <a:rPr lang="pt-P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Aplicar medidas disciplinares quando necessário</a:t>
            </a:r>
          </a:p>
        </p:txBody>
      </p:sp>
    </p:spTree>
    <p:extLst>
      <p:ext uri="{BB962C8B-B14F-4D97-AF65-F5344CB8AC3E}">
        <p14:creationId xmlns:p14="http://schemas.microsoft.com/office/powerpoint/2010/main" val="387245748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7501A1-8B05-F3DA-A869-A910A7574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CARREIRA DE ENFERMAGEM EM ANGOLA</a:t>
            </a:r>
            <a:endParaRPr lang="pt-PT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70AA8336-0EAA-9A5A-18C8-3DB7E1CD6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03751"/>
            <a:ext cx="10058400" cy="45430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PT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Cap. II – Estrutura da carreira</a:t>
            </a:r>
          </a:p>
          <a:p>
            <a:pPr marL="0" indent="0">
              <a:buNone/>
            </a:pPr>
            <a:r>
              <a:rPr lang="pt-PT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5.⸰ - categoria profissionais</a:t>
            </a:r>
          </a:p>
          <a:p>
            <a:pPr marL="0" indent="0">
              <a:buNone/>
            </a:pPr>
            <a:r>
              <a:rPr lang="pt-P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carreira de enfermagem é estruturada em categorias:</a:t>
            </a:r>
          </a:p>
          <a:p>
            <a:pPr>
              <a:buFont typeface="Wingdings" pitchFamily="2" charset="2"/>
              <a:buChar char="Ø"/>
            </a:pPr>
            <a:r>
              <a:rPr lang="pt-P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básico </a:t>
            </a:r>
          </a:p>
          <a:p>
            <a:pPr>
              <a:buFont typeface="Wingdings" pitchFamily="2" charset="2"/>
              <a:buChar char="Ø"/>
            </a:pPr>
            <a:r>
              <a:rPr lang="pt-P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Técnico médio</a:t>
            </a:r>
          </a:p>
          <a:p>
            <a:pPr>
              <a:buFont typeface="Wingdings" pitchFamily="2" charset="2"/>
              <a:buChar char="Ø"/>
            </a:pPr>
            <a:r>
              <a:rPr lang="pt-P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Enfermeiro</a:t>
            </a:r>
          </a:p>
          <a:p>
            <a:pPr>
              <a:buFont typeface="Wingdings" pitchFamily="2" charset="2"/>
              <a:buChar char="Ø"/>
            </a:pPr>
            <a:r>
              <a:rPr lang="pt-P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Enf. Especialista</a:t>
            </a:r>
          </a:p>
          <a:p>
            <a:pPr marL="0" indent="0">
              <a:buNone/>
            </a:pPr>
            <a:r>
              <a:rPr lang="pt-PT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Cada nível possui competências e responsabilidade específicas</a:t>
            </a:r>
            <a:r>
              <a:rPr lang="pt-PT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B5EFFCC-B878-DEE7-31A3-BED489F7A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428041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CFC66-2A11-62ED-4B73-9CFB504A2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COMPETÊNCIAS DO ENFERMEIRO</a:t>
            </a:r>
            <a:endParaRPr lang="pt-PT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E5F086AB-6905-5134-D093-AB8067051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026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Cap. III – Funções e Competências-</a:t>
            </a:r>
            <a:r>
              <a:rPr lang="pt-PT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8</a:t>
            </a:r>
          </a:p>
          <a:p>
            <a:pPr>
              <a:buFont typeface="Wingdings" pitchFamily="2" charset="2"/>
              <a:buChar char="ü"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Enfermeiro é responsável por:</a:t>
            </a:r>
          </a:p>
          <a:p>
            <a:pPr>
              <a:buFont typeface="Wingdings" pitchFamily="2" charset="2"/>
              <a:buChar char="ü"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Planeamento de cuidados</a:t>
            </a:r>
          </a:p>
          <a:p>
            <a:pPr>
              <a:buFont typeface="Wingdings" pitchFamily="2" charset="2"/>
              <a:buChar char="ü"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Execução de procedimentos </a:t>
            </a:r>
          </a:p>
          <a:p>
            <a:pPr>
              <a:buFont typeface="Wingdings" pitchFamily="2" charset="2"/>
              <a:buChar char="ü"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Avaliação do estado do paciente</a:t>
            </a:r>
          </a:p>
          <a:p>
            <a:pPr>
              <a:buFont typeface="Wingdings" pitchFamily="2" charset="2"/>
              <a:buChar char="ü"/>
            </a:pPr>
            <a:r>
              <a:rPr lang="pt-PT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Educação para a saúde</a:t>
            </a:r>
          </a:p>
          <a:p>
            <a:endParaRPr lang="pt-PT" dirty="0"/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6CB449F-0250-AB52-4F13-0E07562AE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154042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FB2B2-B6EE-8498-AAF7-0F520E508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pt-PT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DE ÉTICA E DEONTOLOGIA</a:t>
            </a:r>
            <a:endParaRPr lang="pt-PT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341B8E20-83EB-DE69-340F-5F1A2F4879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BBC3D2EF-A9F1-401A-8C02-1662D96CBA0D}" type="datetime1">
              <a:rPr lang="pt-PT" smtClean="0"/>
              <a:pPr rtl="0">
                <a:spcAft>
                  <a:spcPts val="600"/>
                </a:spcAft>
              </a:pPr>
              <a:t>10/05/2026</a:t>
            </a:fld>
            <a:endParaRPr lang="en-US"/>
          </a:p>
        </p:txBody>
      </p:sp>
      <p:graphicFrame>
        <p:nvGraphicFramePr>
          <p:cNvPr id="6" name="Marcador de Posição de Conteúdo 2">
            <a:extLst>
              <a:ext uri="{FF2B5EF4-FFF2-40B4-BE49-F238E27FC236}">
                <a16:creationId xmlns:a16="http://schemas.microsoft.com/office/drawing/2014/main" id="{69C389C1-CC95-1E07-AD59-5BDC25BB31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7119229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2230182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44D22E37-F20F-3419-87F9-CA42B96B6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707" y="1976440"/>
            <a:ext cx="3592707" cy="446958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Cap. II – Deveres profissionais</a:t>
            </a:r>
          </a:p>
          <a:p>
            <a:pPr>
              <a:buFont typeface="Wingdings" pitchFamily="2" charset="2"/>
              <a:buChar char="Ø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Prestar cuidados de qualidade</a:t>
            </a:r>
          </a:p>
          <a:p>
            <a:pPr>
              <a:buFont typeface="Wingdings" pitchFamily="2" charset="2"/>
              <a:buChar char="Ø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Respeitar o paciente</a:t>
            </a:r>
          </a:p>
          <a:p>
            <a:pPr>
              <a:buFont typeface="Wingdings" pitchFamily="2" charset="2"/>
              <a:buChar char="Ø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Manter sigilo</a:t>
            </a:r>
          </a:p>
          <a:p>
            <a:pPr>
              <a:buFont typeface="Wingdings" pitchFamily="2" charset="2"/>
              <a:buChar char="Ø"/>
            </a:pPr>
            <a:r>
              <a:rPr lang="pt-PT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Actualizar</a:t>
            </a: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conhecimentos</a:t>
            </a:r>
          </a:p>
          <a:p>
            <a:pPr>
              <a:buFont typeface="Wingdings" pitchFamily="2" charset="2"/>
              <a:buChar char="Ø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Trabalhar em equipa 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D031B8C5-C04F-7ACA-E19C-F5AB17790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8AA5DE5-90D5-1181-7734-87B5E6DC43C7}"/>
              </a:ext>
            </a:extLst>
          </p:cNvPr>
          <p:cNvSpPr txBox="1"/>
          <p:nvPr/>
        </p:nvSpPr>
        <p:spPr>
          <a:xfrm>
            <a:off x="5571203" y="2108201"/>
            <a:ext cx="6098458" cy="3349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P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Cap. III – Direitos Profissionais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Condições dignas de trabalho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Segurança profissional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Formação contínua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Reconhecimento</a:t>
            </a:r>
          </a:p>
          <a:p>
            <a:pPr>
              <a:lnSpc>
                <a:spcPct val="150000"/>
              </a:lnSpc>
              <a:buFont typeface="Wingdings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Recusar atos antiéticos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7BC7597-C32E-55C6-02CA-E12838492186}"/>
              </a:ext>
            </a:extLst>
          </p:cNvPr>
          <p:cNvSpPr txBox="1">
            <a:spLocks/>
          </p:cNvSpPr>
          <p:nvPr/>
        </p:nvSpPr>
        <p:spPr>
          <a:xfrm>
            <a:off x="6096000" y="804252"/>
            <a:ext cx="4364120" cy="122899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DIREITOS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pt-PT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PT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9</a:t>
            </a:r>
            <a:endParaRPr lang="pt-PT" sz="3000" b="1" dirty="0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AABED495-0612-5E4C-BC12-AE384A2AF5FB}"/>
              </a:ext>
            </a:extLst>
          </p:cNvPr>
          <p:cNvSpPr txBox="1">
            <a:spLocks/>
          </p:cNvSpPr>
          <p:nvPr/>
        </p:nvSpPr>
        <p:spPr>
          <a:xfrm>
            <a:off x="1106707" y="675434"/>
            <a:ext cx="8928992" cy="13010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700" i="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32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DEVERES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pt-PT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</a:t>
            </a:r>
            <a:r>
              <a:rPr lang="pt-P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6 </a:t>
            </a:r>
          </a:p>
        </p:txBody>
      </p:sp>
    </p:spTree>
    <p:extLst>
      <p:ext uri="{BB962C8B-B14F-4D97-AF65-F5344CB8AC3E}">
        <p14:creationId xmlns:p14="http://schemas.microsoft.com/office/powerpoint/2010/main" val="2623687711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8566F8-8B39-3359-2672-D9584BCDA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IMPORTÂNCIA DA LEGISLAÇÃO</a:t>
            </a:r>
            <a:endParaRPr lang="pt-PT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7DBF902-7F86-54F7-E0EF-DE5E40E0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v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Protege o paciente</a:t>
            </a:r>
          </a:p>
          <a:p>
            <a:pPr>
              <a:buFont typeface="Wingdings" pitchFamily="2" charset="2"/>
              <a:buChar char="v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Protege o profissional</a:t>
            </a:r>
          </a:p>
          <a:p>
            <a:pPr>
              <a:buFont typeface="Wingdings" pitchFamily="2" charset="2"/>
              <a:buChar char="v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limites</a:t>
            </a:r>
          </a:p>
          <a:p>
            <a:pPr>
              <a:buFont typeface="Wingdings" pitchFamily="2" charset="2"/>
              <a:buChar char="v"/>
            </a:pPr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Garante qualidade nos cuidados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EC14350-3B90-AB64-6434-0D02DEFF9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903119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5D8C1-A94E-C676-FE60-E53DBAA39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2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pt-PT" sz="28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E1FD0F8-4728-8342-1DC2-B7602307B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legislação de enfermagem em Angola não é apenas um conjunto de normas  - é  um instrumento que:</a:t>
            </a:r>
          </a:p>
          <a:p>
            <a:pPr algn="just">
              <a:buFont typeface="Wingdings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Orienta a prática</a:t>
            </a:r>
          </a:p>
          <a:p>
            <a:pPr algn="just">
              <a:buFont typeface="Wingdings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Garante segurança</a:t>
            </a:r>
          </a:p>
          <a:p>
            <a:pPr algn="just">
              <a:buFont typeface="Wingdings" pitchFamily="2" charset="2"/>
              <a:buChar char="Ø"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Valoriza a profissão</a:t>
            </a:r>
          </a:p>
          <a:p>
            <a:pPr marL="0" indent="0" algn="just">
              <a:buNone/>
            </a:pPr>
            <a:r>
              <a:rPr lang="pt-P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Conhecer a lei é um dever de todo profissional de Enfermagem.</a:t>
            </a:r>
          </a:p>
          <a:p>
            <a:endParaRPr lang="pt-PT" dirty="0"/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3F457F9-3268-867E-B635-85FC5825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655423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7A78F-FC1E-61E8-F38E-86A2AD27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E5597A5-86B6-EFB0-C82C-3ED950F393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56095"/>
            <a:ext cx="10058400" cy="4590743"/>
          </a:xfrm>
        </p:spPr>
        <p:txBody>
          <a:bodyPr>
            <a:normAutofit fontScale="85000" lnSpcReduction="20000"/>
          </a:bodyPr>
          <a:lstStyle/>
          <a:p>
            <a:r>
              <a:rPr lang="pt-PT" dirty="0"/>
              <a:t>www.Ordenfa.org</a:t>
            </a:r>
          </a:p>
          <a:p>
            <a:r>
              <a:rPr lang="pt-PT" dirty="0"/>
              <a:t>www.legislaçãoangola.com</a:t>
            </a:r>
          </a:p>
          <a:p>
            <a:r>
              <a:rPr lang="pt-PT" dirty="0">
                <a:hlinkClick r:id="rId2"/>
              </a:rPr>
              <a:t>https://www.souenfermagem.com.br/fundamentos/regulamentacao-da-enfermagem-nobrasil</a:t>
            </a:r>
            <a:r>
              <a:rPr lang="pt-PT" dirty="0"/>
              <a:t>.</a:t>
            </a:r>
          </a:p>
          <a:p>
            <a:r>
              <a:rPr lang="pt-PT" dirty="0"/>
              <a:t>Código de ética e deontologia dos profissionais de enfermagem de Angola (2006)</a:t>
            </a:r>
          </a:p>
          <a:p>
            <a:r>
              <a:rPr lang="pt-PT" dirty="0" err="1"/>
              <a:t>Timby</a:t>
            </a:r>
            <a:r>
              <a:rPr lang="pt-PT" dirty="0"/>
              <a:t>, barbara k. conceitos e habilidades fundamentais nos atendimentos de enfermagem. </a:t>
            </a:r>
            <a:r>
              <a:rPr lang="pt-PT" dirty="0" err="1"/>
              <a:t>Arted</a:t>
            </a:r>
            <a:r>
              <a:rPr lang="pt-PT" dirty="0"/>
              <a:t> </a:t>
            </a:r>
            <a:r>
              <a:rPr lang="pt-PT" dirty="0" err="1"/>
              <a:t>edt</a:t>
            </a:r>
            <a:r>
              <a:rPr lang="pt-PT" dirty="0"/>
              <a:t>, 6°ed, brasil-PA 2001</a:t>
            </a:r>
          </a:p>
          <a:p>
            <a:r>
              <a:rPr lang="pt-PT" dirty="0"/>
              <a:t>Classificador de profissão de Angola. Decreto Executivo conjunto nº31/03 de 24 </a:t>
            </a:r>
            <a:r>
              <a:rPr lang="pt-PT" dirty="0" err="1"/>
              <a:t>dejunho,Editor</a:t>
            </a:r>
            <a:r>
              <a:rPr lang="pt-PT" dirty="0"/>
              <a:t>: Imprensa Nacional</a:t>
            </a:r>
          </a:p>
          <a:p>
            <a:r>
              <a:rPr lang="pt-PT" dirty="0"/>
              <a:t>Tadeu, </a:t>
            </a:r>
            <a:r>
              <a:rPr lang="pt-PT" dirty="0" err="1"/>
              <a:t>jorgr</a:t>
            </a:r>
            <a:r>
              <a:rPr lang="pt-PT" dirty="0"/>
              <a:t>, atitudes, editora PM SAT Ediçao1, Lisboa 2010.</a:t>
            </a:r>
          </a:p>
          <a:p>
            <a:r>
              <a:rPr lang="pt-PT" dirty="0" err="1"/>
              <a:t>Potter</a:t>
            </a:r>
            <a:r>
              <a:rPr lang="pt-PT" dirty="0"/>
              <a:t>, P$ </a:t>
            </a:r>
            <a:r>
              <a:rPr lang="pt-PT" dirty="0" err="1"/>
              <a:t>Peny</a:t>
            </a:r>
            <a:r>
              <a:rPr lang="pt-PT" dirty="0"/>
              <a:t>, A. (2006). Fundamentos de enfermagem: e procedimentos. (5ed) </a:t>
            </a:r>
            <a:r>
              <a:rPr lang="pt-PT" dirty="0" err="1"/>
              <a:t>loures:luso-ciências</a:t>
            </a:r>
            <a:endParaRPr lang="pt-PT" dirty="0"/>
          </a:p>
          <a:p>
            <a:r>
              <a:rPr lang="pt-PT" dirty="0"/>
              <a:t>Queza, A (2010) sistema de saúde em Angola; uma proposta a luz do sistema de saúde em Portugal, mestrado integrado em medicina: faculdade de medicina do porto.</a:t>
            </a:r>
          </a:p>
          <a:p>
            <a:r>
              <a:rPr lang="pt-PT" dirty="0"/>
              <a:t>Ministério da saúde da republica de Angola. (2012). Plano nacional de desenvolvimento sanitário 2012-2015.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FE9A472-C5BE-0577-E5E7-E601FA73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993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E84D9C-B326-02E0-9ADA-5BCCEE62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29163DA4-B9C3-2459-75B4-3078D0944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PT" sz="4000" dirty="0"/>
              <a:t>A técnica salva vidas, mas o conhecimento da legislação protege o profissional e garante um cuidado justo, ético e seguro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247E0FCF-E07C-70AF-F1E5-1E9826B82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BBC3D2EF-A9F1-401A-8C02-1662D96CBA0D}" type="datetime1">
              <a:rPr lang="pt-PT" smtClean="0"/>
              <a:t>10/05/2026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515127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65_TF56160789" id="{81F3A797-2DB1-43D6-A0DF-052D6582437D}" vid="{63A9F976-DBE9-4804-AF5A-308C077DB90B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{9B07D11E-F8AE-4A88-87D1-533F73E6E219}TFf0a5ceae-4542-492d-822e-d65a94fb0e1ea1a5587a_win32-0ee83a781295</Template>
  <TotalTime>604</TotalTime>
  <Words>837</Words>
  <Application>Microsoft Office PowerPoint</Application>
  <PresentationFormat>Ecrã Panorâmico</PresentationFormat>
  <Paragraphs>110</Paragraphs>
  <Slides>16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16</vt:i4>
      </vt:variant>
    </vt:vector>
  </HeadingPairs>
  <TitlesOfParts>
    <vt:vector size="23" baseType="lpstr">
      <vt:lpstr>Agency FB</vt:lpstr>
      <vt:lpstr>Bookman Old Style</vt:lpstr>
      <vt:lpstr>Calibri</vt:lpstr>
      <vt:lpstr>Franklin Gothic Book</vt:lpstr>
      <vt:lpstr>Times New Roman</vt:lpstr>
      <vt:lpstr>Wingdings</vt:lpstr>
      <vt:lpstr>1_RetrospectVTI</vt:lpstr>
      <vt:lpstr>Apresentação do PowerPoint</vt:lpstr>
      <vt:lpstr>Legislação de  Enfermagem em Angola</vt:lpstr>
      <vt:lpstr>SUMÁRIO</vt:lpstr>
      <vt:lpstr>começou a se estruturar a partir da década de 80. Em 1992, foi aprovada a Lei n° 21-B/92, que serviu de base para o Sistema Nacional de Saúde. Em 2010, o Decreto Presidencial n° 179/10 criou a Ordem dos Enfermeiros de Angola, definindo a regulação da profissão. Em 2018, o Decreto n° 187/18 estabeleceu o regime jurídico da carreira de enfermagem, com categorias e competências, e, mais recentemente,* Decreto n° 212/23 regulou a formação especializada. Esses diplomas formam a espinha dorsal da prática profissional de enfermagem no país.</vt:lpstr>
      <vt:lpstr>LEGISLAÇÃO</vt:lpstr>
      <vt:lpstr>A LEGISLAÇÃO</vt:lpstr>
      <vt:lpstr>Ordenfa. Decreto Presidencial nº 179/10 </vt:lpstr>
      <vt:lpstr>Estatuto da Ordem dos Enfermeiros</vt:lpstr>
      <vt:lpstr>CARREIRA DE ENFERMAGEM EM ANGOLA</vt:lpstr>
      <vt:lpstr>COMPETÊNCIAS DO ENFERMEIRO</vt:lpstr>
      <vt:lpstr>CÓDIGO DE ÉTICA E DEONTOLOGIA</vt:lpstr>
      <vt:lpstr>Apresentação do PowerPoint</vt:lpstr>
      <vt:lpstr>IMPORTÂNCIA DA LEGISLAÇÃO</vt:lpstr>
      <vt:lpstr>CONCLUSÃO</vt:lpstr>
      <vt:lpstr>REFERÊNCIAS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Pascoal Sebastião</dc:creator>
  <cp:lastModifiedBy>Pascoal Sebastião</cp:lastModifiedBy>
  <cp:revision>8</cp:revision>
  <dcterms:created xsi:type="dcterms:W3CDTF">2026-05-10T12:02:24Z</dcterms:created>
  <dcterms:modified xsi:type="dcterms:W3CDTF">2026-05-10T23:15:51Z</dcterms:modified>
</cp:coreProperties>
</file>